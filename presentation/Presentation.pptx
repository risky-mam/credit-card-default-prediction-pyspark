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29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</a:rPr>
              <a:t>BIG DATA MACHINE LEARNING MINI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Credit Card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Default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96167"/>
                </a:solidFill>
              </a:rPr>
              <a:t>A Spark ML Big Data Pipeline for Binary Classification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Application Area 5: Credit Card  |  UCI “Default of Credit Card Clients” Dataset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532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Group Members
</a:t>
            </a:r>
            <a:r>
              <a:rPr lang="en-US" sz="1200" b="1" dirty="0">
                <a:solidFill>
                  <a:srgbClr val="CADCFC"/>
                </a:solidFill>
              </a:rPr>
              <a:t>RADS BANDARA</a:t>
            </a:r>
            <a:r>
              <a:rPr lang="en-US" sz="1200" dirty="0">
                <a:solidFill>
                  <a:srgbClr val="CADCFC"/>
                </a:solidFill>
              </a:rPr>
              <a:t> — 31834
MAM RISKY — 31839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9"/>
                </a:solidFill>
              </a:rPr>
              <a:t>Big Data Analytics  |  NSBM Green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Problem &amp; Business Case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75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Why credit-default prediction matters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Dataset &amp; Data Quality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493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30,000 clients, cleaning findings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Exploratory Data Analysis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910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What drives default risk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5961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Spark ML Pipeline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6327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Feature engineering → models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Results &amp; Comparison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075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3 models, 5 metrics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Big Data Scalability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493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From 30K to 100M+ rows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526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Conclusion &amp; Recommendation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910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What we’d deploy, and why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 Credit Card Default?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Business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Card issuers lose money when clients default — and lose goodwill when they over-restrict reliable customers. A model that flags high-risk clients in advance lets the risk team intervene early: adjust limits, restructure repayment, or prioritise collections.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Predict default payment next month (binary) from a client’s demographics, credit limit, and last 6 months of billing / repayment history, using at least two Spark ML models.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Stakeholders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233172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2128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Credit Risk &amp; Collections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505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Act directly on the risk 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29184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3172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Finance / Treasury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465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Cares about aggregate bad-debt exposure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2519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4133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Clients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425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Affected by credit-limit decisions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52578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</a:rPr>
              <a:t>Why ML? Repayment behaviour × utilisation × demographics interact non-linearly — too complex for hand-written rules at 30,000+ clients.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“Default of Credit Card Clients”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Client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783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Predictor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783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Default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783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Feature Groups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Demographics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LIMIT_BAL, SEX, EDUCATION, MARRIAGE, AGE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13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Repayment status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8130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PAY_0, PAY_2…PAY_6 (last 6 months)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885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Bill / payment amounts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28853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BILL_AMT1-6, PAY_AMT1-6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640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Target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47640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default payment next month (1 / 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560" y="2971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Source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UCI Machine Learning Repository — I-C. Yeh, Taiwanese bank, Oct 2005 payments.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Usage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4846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Public research dataset; anonymised codes only; used strictly as an educational ML exercise.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Findings (Real Issues Found)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Duplicates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removed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All 30,000 rows are unique clients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96596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148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Missing Values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606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nulls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461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Every column fully populated across all rows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196596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148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EDUCATION Codes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606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468 fixed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2461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Undocumented codes 0/5/6 merged into “Others” (4)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7373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965960"/>
            <a:ext cx="2057400" cy="7315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0" y="2148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</a:rPr>
              <a:t>MARRIAGE Codes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606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377 fixed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2461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Undocumented code 0 merged into “Others” (3)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66666"/>
                </a:solidFill>
              </a:rPr>
              <a:t>Rather than dropping ~2.8% of clients with undocumented category codes, we collapsed them into the closest documented category — preserving every client while removing encoding ambiguity.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All cleaning performed with Spark DataFrame operations (groupBy, when/otherwise) — not pandas.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Balance &amp; the Strongest Predictor</a:t>
            </a:r>
            <a:endParaRPr lang="en-US" sz="3000" dirty="0"/>
          </a:p>
        </p:txBody>
      </p:sp>
      <p:pic>
        <p:nvPicPr>
          <p:cNvPr id="4" name="Image 0" descr="/home/claude/project/artifacts/plots/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4023360" cy="3218688"/>
          </a:xfrm>
          <a:prstGeom prst="rect">
            <a:avLst/>
          </a:prstGeom>
        </p:spPr>
      </p:pic>
      <p:pic>
        <p:nvPicPr>
          <p:cNvPr id="5" name="Image 1" descr="/home/claude/project/artifacts/plots/default_rate_by_pay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91640"/>
            <a:ext cx="6720840" cy="4023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074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22.1% of clients defaulted — an imbalanced target, so Accuracy alone would mislead.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892040" y="580644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PAY_0 (most recent repayment status) is the clearest single signal: on-time clients default at ~13–17%; any month of delay pushes that to 34–69%+.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Correlates With Default?</a:t>
            </a:r>
            <a:endParaRPr lang="en-US" sz="3000" dirty="0"/>
          </a:p>
        </p:txBody>
      </p:sp>
      <p:pic>
        <p:nvPicPr>
          <p:cNvPr id="4" name="Image 0" descr="/home/claude/project/artifacts/plots/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035040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Key Correlations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949440" y="192024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7804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PAY_0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3042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 ≈ 0.316 — strongest positive correlate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949440" y="2944368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78040" y="3017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PAY_2, PAY_3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33284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 ≈ 0.26, 0.23 — recent delay history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0" y="3968496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78040" y="4041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LIMIT_BAL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43525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 ≈ -0.157 — strongest negative correlate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4992624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78040" y="50657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BILL_AMT*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5376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Weakly correlated alone — the bill/pay ratio matters more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Columns to Model-Ready Vectors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Derived Features (Spark DataFrame expressions)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939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AVG_BILL_AMT / AVG_PAY_AMT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682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6-month averages, smoothing single-month noise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7523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CREDIT_UTILIZATION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266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avg bill ÷ credit limit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107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PAY_TO_BILL_RATIO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85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avg payment ÷ avg bill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78808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MONTHS_DELAYED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count of delayed months (of 6)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Spark ML Transformers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03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StringIndexer → OneHotEncoder (SEX, EDUCATION, MARRIAGE) → VectorAssembler → StandardScaler</a:t>
            </a:r>
            <a:endParaRPr lang="en-US" sz="1200" dirty="0"/>
          </a:p>
        </p:txBody>
      </p:sp>
      <p:pic>
        <p:nvPicPr>
          <p:cNvPr id="19" name="Image 0" descr="/home/claude/project/diagram/architecture_work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91640"/>
            <a:ext cx="5212080" cy="280720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46520" y="47091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75120" y="4892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</a:rPr>
              <a:t>28 total feature columns → one Spark ML Pipeline object per model — satisfying the mandatory Pipeline requirement.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Spark ML Classifiers Compared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</a:rPr>
              <a:t>Logistic Regression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Interpretable linear baseline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maxIter=50, regParam=0.01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</a:rPr>
              <a:t>Random Forest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150-tree ensemble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40233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167"/>
                </a:solidFill>
              </a:rPr>
              <a:t>numTrees=150, maxDepth=8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</a:rPr>
              <a:t>Decision Tree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Single tree, fastest to train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0" y="40233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0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maxDepth=6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66666"/>
                </a:solidFill>
              </a:rPr>
              <a:t>All three trained through an identical Spark ML Pipeline on an 80/20 train-test split (24,032 / 5,968 rows, seed=42), satisfying the “at least two models” requirement with one extra for comparison.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Across Metrics</a:t>
            </a:r>
            <a:endParaRPr lang="en-US" sz="3000" dirty="0"/>
          </a:p>
        </p:txBody>
      </p:sp>
      <p:pic>
        <p:nvPicPr>
          <p:cNvPr id="4" name="Image 0" descr="/home/claude/project/artifacts/plo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94944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</a:rPr>
              <a:t>Model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509760" y="1737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</a:rPr>
              <a:t>Acc.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0332720" y="17373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</a:rPr>
              <a:t>F1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0996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</a:rPr>
              <a:t>AUC-ROC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267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Logistic Regression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509760" y="22677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0.811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22677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0.780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109960" y="22677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0.745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80960" y="2752344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FFF0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0" y="2798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Random Forest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2798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0.817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332720" y="27980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0.795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109960" y="27980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</a:rPr>
              <a:t>0.785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33284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Decision Tree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509760" y="33284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0.818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33284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0.790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109960" y="33284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0.729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68096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★ Random Forest wins on AUC-ROC — best at ranking clients by risk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80960" y="4572000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909560" y="475488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FFFFF"/>
                </a:solidFill>
              </a:rPr>
              <a:t>Full metrics (Precision, Recall, AUC-PR) and confusion matrices for all 3 models are in the technical report, Section 11.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Model’s Predictions?</a:t>
            </a:r>
            <a:endParaRPr lang="en-US" sz="3000" dirty="0"/>
          </a:p>
        </p:txBody>
      </p:sp>
      <p:pic>
        <p:nvPicPr>
          <p:cNvPr id="4" name="Image 0" descr="/home/claude/project/artifacts/plots/rf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12064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893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989320" y="2148840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17920" y="22402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Recent repayment status (PAY_0, PAY_2) and MONTHS_DELAYED dominate — consistent with the correlation analysis.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3172968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32644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Random Forest’s ensemble captures non-linear interactions (e.g. PAY_0 × CREDIT_UTILIZATION) a linear model misses.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4197096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428853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All models find defaulters harder to catch than non-defaulters — a direct effect of 78/22 class imbalance.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89320" y="5221224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0" y="531266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These are associations, not proven causes — repayment delay and default risk likely share an unobserved financial-stress driver.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</a:rPr>
              <a:t>BIG DATA 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30,000 Rows to 100M+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This pipeline never leaves Spark DataFrames / Spark ML — so scaling changes only the compute pointed at the same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2630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585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Storage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877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Local CSV → distributed HDFS / S3, columnar Parquet for fast scans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263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2585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Compute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877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local[*] → YARN / Kubernetes cluster across many executor nodes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214884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2630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58200" y="22585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Partitioning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5877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Tune shuffle.partitions to cluster cores; partition by month/region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2630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675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EDA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0050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Keep aggregating in Spark groupBy; never collect full data to pandas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35661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2630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3675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Training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0050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RF &amp; LR already distribute natively — no algorithm swap needed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35661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2630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58200" y="3675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</a:rPr>
              <a:t>Serving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40050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Persist the PipelineModel; batch-score millions of new rows/month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9397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82880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Single institution, single period (Taiwan, 2005) — may not transfer to other markets without retraining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1693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65176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Class imbalance — recall on defaulters remains the main weakness across all 3 models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73989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47472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Association, not causation — feature importance shows what predicts default, not why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56285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29768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Random 80/20 split, not time-based — doesn’t test generalisation to future periods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38581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512064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Hyperparameters set to reasonable defaults, not tuned via cross-validation, due to project scope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97680"/>
          </a:xfrm>
          <a:prstGeom prst="roundRect">
            <a:avLst>
              <a:gd name="adj" fmla="val 297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Deploy: Random Forest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Best AUC-ROC (0.785) and AUC-PR (0.551) — the strongest at ranking clients by risk, which is what a collections team actually needs.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Retain: Logistic Regression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As an interpretable, low-latency fallback and explainability check on individual high-risk flags.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AEB8E8"/>
                </a:solidFill>
              </a:rPr>
              <a:t>Before production: tune the decision threshold / class weighting for the bank’s real cost of a missed defaulter vs. a false alarm.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47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37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</a:rPr>
              <a:t>clients analysed end-to-end in Spark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83464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29443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346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</a:rPr>
              <a:t>Spark ML models trained &amp; compared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40416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931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</a:rPr>
              <a:t>best AUC-ROC (Random Forest)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50292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513892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100M+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</a:rPr>
              <a:t>rows the same pipeline is ready to scale to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96167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Notebook, technical report, architecture diagram, and dataset are available in the submitted project folder.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RADS BANDARA  •  MAM RISKY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9"/>
                </a:solidFill>
              </a:rPr>
              <a:t>Big Data Analytics — NSBM Green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1287</Words>
  <Application>Microsoft Office PowerPoint</Application>
  <PresentationFormat>Widescreen</PresentationFormat>
  <Paragraphs>224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Sanjula Bandara</cp:lastModifiedBy>
  <cp:revision>2</cp:revision>
  <dcterms:created xsi:type="dcterms:W3CDTF">2026-09-04T03:29:34Z</dcterms:created>
  <dcterms:modified xsi:type="dcterms:W3CDTF">2026-09-04T21:56:58Z</dcterms:modified>
</cp:coreProperties>
</file>